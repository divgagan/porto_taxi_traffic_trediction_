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Congestion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</c:v>
                </c:pt>
                <c:pt idx="1">
                  <c:v>80</c:v>
                </c:pt>
                <c:pt idx="2">
                  <c:v>55</c:v>
                </c:pt>
                <c:pt idx="3">
                  <c:v>95</c:v>
                </c:pt>
                <c:pt idx="4">
                  <c:v>420</c:v>
                </c:pt>
                <c:pt idx="5">
                  <c:v>580</c:v>
                </c:pt>
                <c:pt idx="6">
                  <c:v>510</c:v>
                </c:pt>
                <c:pt idx="7">
                  <c:v>490</c:v>
                </c:pt>
                <c:pt idx="8">
                  <c:v>600</c:v>
                </c:pt>
                <c:pt idx="9">
                  <c:v>720</c:v>
                </c:pt>
                <c:pt idx="10">
                  <c:v>480</c:v>
                </c:pt>
                <c:pt idx="11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11-44DB-ADC7-CFD737A03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Hour of Day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E8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FFFFFF"/>
                </a:solidFill>
                <a:latin typeface="Arial"/>
              </a:rPr>
              <a:t>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E5C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53E-4817-A248-FE7C54B9D1CD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3E-4817-A248-FE7C54B9D1CD}"/>
              </c:ext>
            </c:extLst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3E-4817-A248-FE7C54B9D1CD}"/>
              </c:ext>
            </c:extLst>
          </c:dPt>
          <c:dPt>
            <c:idx val="3"/>
            <c:invertIfNegative val="0"/>
            <c:bubble3D val="0"/>
            <c:spPr>
              <a:solidFill>
                <a:srgbClr val="FFD6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3E-4817-A248-FE7C54B9D1C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lat_bin</c:v>
                </c:pt>
                <c:pt idx="1">
                  <c:v>lon_bin</c:v>
                </c:pt>
                <c:pt idx="2">
                  <c:v>hour</c:v>
                </c:pt>
                <c:pt idx="3">
                  <c:v>day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0.38</c:v>
                </c:pt>
                <c:pt idx="1">
                  <c:v>0.34</c:v>
                </c:pt>
                <c:pt idx="2">
                  <c:v>0.21</c:v>
                </c:pt>
                <c:pt idx="3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53E-4817-A248-FE7C54B9D1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582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548640"/>
            <a:ext cx="3474720" cy="3474720"/>
          </a:xfrm>
          <a:prstGeom prst="ellipse">
            <a:avLst/>
          </a:prstGeom>
          <a:solidFill>
            <a:srgbClr val="112244">
              <a:alpha val="7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560320"/>
            <a:ext cx="2011680" cy="2011680"/>
          </a:xfrm>
          <a:prstGeom prst="ellipse">
            <a:avLst/>
          </a:prstGeom>
          <a:solidFill>
            <a:srgbClr val="112244">
              <a:alpha val="50000"/>
            </a:srgbClr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58368"/>
            <a:ext cx="201168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ACADEMIC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Traffic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1" y="1965960"/>
            <a:ext cx="576775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Trave  time &amp; Congestion Prediction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Porto Taxi GPS Trajectories &amp; XGBoost Machine Learning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93008"/>
            <a:ext cx="4114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7102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462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Trips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4462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83M+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97480" y="4754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Points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4462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4754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95160" y="4462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4754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Accuracy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972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34440"/>
            <a:ext cx="2743200" cy="3520440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234440"/>
            <a:ext cx="27432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41732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5087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192" y="22677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0624" y="269748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taxi GPS data is messy — raw trip trajectories cannot be used for prediction directly. The data must be transformed into a structured format that captures congestion patterns.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234440"/>
            <a:ext cx="2743200" cy="3520440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23444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5087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2677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364992" y="269748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engineered a spatial grid over Porto, snapped every GPS point to a grid cell, and counted taxi density per cell per time-slot to create a congestion metric — then trained XGBoost on it.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44768" y="1234440"/>
            <a:ext cx="2743200" cy="3520440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44768" y="1234440"/>
            <a:ext cx="2743200" cy="73152"/>
          </a:xfrm>
          <a:prstGeom prst="rect">
            <a:avLst/>
          </a:prstGeom>
          <a:solidFill>
            <a:srgbClr val="00E5C3"/>
          </a:solidFill>
          <a:ln/>
        </p:spPr>
      </p:sp>
      <p:sp>
        <p:nvSpPr>
          <p:cNvPr id="19" name="Shape 15"/>
          <p:cNvSpPr/>
          <p:nvPr/>
        </p:nvSpPr>
        <p:spPr>
          <a:xfrm>
            <a:off x="7150608" y="1417320"/>
            <a:ext cx="731520" cy="731520"/>
          </a:xfrm>
          <a:prstGeom prst="ellipse">
            <a:avLst/>
          </a:prstGeom>
          <a:solidFill>
            <a:srgbClr val="00E5C3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150876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81928" y="22677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09360" y="269748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web app that accepts any Porto location + time as input and predicts the expected traffic congestion level with an R² accuracy of 0.9849 on the full dataset.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Taxi Trajectory Dataset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" y="124030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crailtap/taxi-trajectory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664208"/>
            <a:ext cx="4206240" cy="3127248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810512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STRUCTURE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2212848"/>
            <a:ext cx="1261872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2212848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TRIP_ID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65376" y="2240280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trip identifier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2688336"/>
            <a:ext cx="1261872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68833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65376" y="271576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epoch — trip start 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3163824"/>
            <a:ext cx="1261872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16382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65376" y="3191256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[lon, lat] GPS points (every 15s)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3639312"/>
            <a:ext cx="1261872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63931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65376" y="3666744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— GPS dropout flag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0352" y="4114800"/>
            <a:ext cx="1261872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41148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65376" y="4142232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/ Holiday / Holiday-Eve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1664208"/>
            <a:ext cx="1920240" cy="1444752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9385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1,710,670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92040" y="2532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Raw Trips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664208"/>
            <a:ext cx="1920240" cy="1444752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9440" y="19385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pts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49440" y="2532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GPS Points / Trip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246120"/>
            <a:ext cx="1920240" cy="1444752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5204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89204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Sampling Interval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3246120"/>
            <a:ext cx="1920240" cy="1444752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49440" y="35204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Porto, PT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4944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Coverage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4617720"/>
            <a:ext cx="3977640" cy="411480"/>
          </a:xfrm>
          <a:prstGeom prst="rect">
            <a:avLst/>
          </a:prstGeom>
          <a:solidFill>
            <a:srgbClr val="071020"/>
          </a:solidFill>
          <a:ln/>
        </p:spPr>
      </p:sp>
      <p:sp>
        <p:nvSpPr>
          <p:cNvPr id="36" name="Text 34"/>
          <p:cNvSpPr/>
          <p:nvPr/>
        </p:nvSpPr>
        <p:spPr>
          <a:xfrm>
            <a:off x="4956048" y="4663440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POLYLINE: "[[-8.618, 41.141], [-8.619, 41.142], ...]"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182156"/>
            <a:ext cx="2743200" cy="1755648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64008" cy="17556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402336" y="1298448"/>
            <a:ext cx="438912" cy="43891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Bad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" y="1792224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trips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MISSING_DATA =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empty polylines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170432"/>
            <a:ext cx="2743200" cy="1755648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70432"/>
            <a:ext cx="64008" cy="17556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3346704" y="1298448"/>
            <a:ext cx="438912" cy="43891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346704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86200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POLYLINE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46704" y="1792224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json.loads() converts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Python 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[lon, lat] pairs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44768" y="1170432"/>
            <a:ext cx="2743200" cy="1755648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170432"/>
            <a:ext cx="64008" cy="1755648"/>
          </a:xfrm>
          <a:prstGeom prst="rect">
            <a:avLst/>
          </a:prstGeom>
          <a:solidFill>
            <a:srgbClr val="00E5C3"/>
          </a:solidFill>
          <a:ln/>
        </p:spPr>
      </p:sp>
      <p:sp>
        <p:nvSpPr>
          <p:cNvPr id="19" name="Shape 17"/>
          <p:cNvSpPr/>
          <p:nvPr/>
        </p:nvSpPr>
        <p:spPr>
          <a:xfrm>
            <a:off x="6291072" y="1298448"/>
            <a:ext cx="438912" cy="438912"/>
          </a:xfrm>
          <a:prstGeom prst="ellipse">
            <a:avLst/>
          </a:prstGeom>
          <a:solidFill>
            <a:srgbClr val="00E5C3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0568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1792224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(Unix) 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(0–23)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(0–6, Mon–Sun)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3108960"/>
            <a:ext cx="2743200" cy="1755648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108960"/>
            <a:ext cx="64008" cy="17556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402336" y="3236976"/>
            <a:ext cx="438912" cy="43891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" y="3236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1832" y="3236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to Points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2336" y="373075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trip → individual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rows, carrying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trip start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3108960"/>
            <a:ext cx="2743200" cy="1755648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108960"/>
            <a:ext cx="64008" cy="175564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1" name="Shape 29"/>
          <p:cNvSpPr/>
          <p:nvPr/>
        </p:nvSpPr>
        <p:spPr>
          <a:xfrm>
            <a:off x="3346704" y="3236976"/>
            <a:ext cx="438912" cy="438912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32" name="Text 30"/>
          <p:cNvSpPr/>
          <p:nvPr/>
        </p:nvSpPr>
        <p:spPr>
          <a:xfrm>
            <a:off x="3346704" y="3236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86200" y="3236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Filter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46704" y="373075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GPS errors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Porto's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44768" y="3108960"/>
            <a:ext cx="2743200" cy="1755648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3108960"/>
            <a:ext cx="64008" cy="1755648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7" name="Shape 35"/>
          <p:cNvSpPr/>
          <p:nvPr/>
        </p:nvSpPr>
        <p:spPr>
          <a:xfrm>
            <a:off x="6291072" y="3236976"/>
            <a:ext cx="438912" cy="438912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38" name="Text 36"/>
          <p:cNvSpPr/>
          <p:nvPr/>
        </p:nvSpPr>
        <p:spPr>
          <a:xfrm>
            <a:off x="6291072" y="3236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30568" y="3236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Binning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91072" y="373075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100×100 grid 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lon_bin &amp; lat_bin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GPS point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E5C3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E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100 × 100 Spatial Grid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3657600" cy="3474720"/>
          </a:xfrm>
          <a:prstGeom prst="rect">
            <a:avLst/>
          </a:prstGeom>
          <a:solidFill>
            <a:srgbClr val="07102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98448"/>
            <a:ext cx="36576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877568"/>
            <a:ext cx="36576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456688"/>
            <a:ext cx="36576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3035808"/>
            <a:ext cx="36576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3614928"/>
            <a:ext cx="36576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4194048"/>
            <a:ext cx="36576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4773168"/>
            <a:ext cx="36576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298448"/>
            <a:ext cx="0" cy="347472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6562" y="1298448"/>
            <a:ext cx="0" cy="347472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29077" y="1298448"/>
            <a:ext cx="0" cy="347472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51591" y="1298448"/>
            <a:ext cx="0" cy="347472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74105" y="1298448"/>
            <a:ext cx="0" cy="347472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96619" y="1298448"/>
            <a:ext cx="0" cy="347472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19134" y="1298448"/>
            <a:ext cx="0" cy="347472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41648" y="1298448"/>
            <a:ext cx="0" cy="347472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51591" y="2456688"/>
            <a:ext cx="522514" cy="5791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1951591" y="3035808"/>
            <a:ext cx="522514" cy="5791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2474105" y="2456688"/>
            <a:ext cx="522514" cy="5791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1429077" y="1877568"/>
            <a:ext cx="522514" cy="579120"/>
          </a:xfrm>
          <a:prstGeom prst="rect">
            <a:avLst/>
          </a:prstGeom>
          <a:solidFill>
            <a:srgbClr val="FFD60A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96619" y="3035808"/>
            <a:ext cx="522514" cy="579120"/>
          </a:xfrm>
          <a:prstGeom prst="rect">
            <a:avLst/>
          </a:prstGeom>
          <a:solidFill>
            <a:srgbClr val="FFD60A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06562" y="3614928"/>
            <a:ext cx="522514" cy="57912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519134" y="1877568"/>
            <a:ext cx="522514" cy="57912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4864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City Grid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1234440"/>
            <a:ext cx="54864" cy="777240"/>
          </a:xfrm>
          <a:prstGeom prst="rect">
            <a:avLst/>
          </a:prstGeom>
          <a:solidFill>
            <a:srgbClr val="00E5C3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25272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divided into 100×100 cells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54880" y="15819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np.linspace creates equal-width bin edges across the lon/lat range.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194560"/>
            <a:ext cx="54864" cy="777240"/>
          </a:xfrm>
          <a:prstGeom prst="rect">
            <a:avLst/>
          </a:prstGeom>
          <a:solidFill>
            <a:srgbClr val="00E5C3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21284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np.digitize snaps coordinates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54880" y="25420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GPS point is assigned a lon_bin (0–99) and lat_bin (0–99) based on its location.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3154680"/>
            <a:ext cx="54864" cy="777240"/>
          </a:xfrm>
          <a:prstGeom prst="rect">
            <a:avLst/>
          </a:prstGeom>
          <a:solidFill>
            <a:srgbClr val="00E5C3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17296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= count of GPS points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754880" y="35021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(hour, day, lon_bin, lat_bin).size() counts how many taxis were in that cell at that time.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4114800"/>
            <a:ext cx="54864" cy="777240"/>
          </a:xfrm>
          <a:prstGeom prst="rect">
            <a:avLst/>
          </a:prstGeom>
          <a:solidFill>
            <a:srgbClr val="00E5C3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41330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saved as .pkl files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754880" y="44622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lon_bins.pkl &amp; lat_bins.pkl ensure the app uses the exact same grid as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CONGESTION TARGET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713232"/>
          </a:xfrm>
          <a:prstGeom prst="rect">
            <a:avLst/>
          </a:prstGeom>
          <a:solidFill>
            <a:srgbClr val="0A162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congestion  =  groupby( hour, day, lon_bin, lat_bin ).size()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1920240" cy="1353312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84832"/>
            <a:ext cx="192024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2677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87,128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79806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rows in final dataset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7168" y="2084832"/>
            <a:ext cx="1920240" cy="1353312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2084832"/>
            <a:ext cx="192024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22677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78608" y="279806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congestion value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08576" y="2084832"/>
            <a:ext cx="1920240" cy="1353312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2084832"/>
            <a:ext cx="192024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4608576" y="22677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174,974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0016" y="279806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congestion (city centre)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9984" y="2084832"/>
            <a:ext cx="1920240" cy="1353312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9984" y="2084832"/>
            <a:ext cx="192024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729984" y="22677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21424" y="279806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congestion (quiet areas)</a:t>
            </a:r>
            <a:endParaRPr lang="en-US" sz="10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365760" y="3566160"/>
          <a:ext cx="566928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365760" y="4919472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congestion pattern by hour — peaks during morning &amp; evening rush hours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236208" y="3547872"/>
            <a:ext cx="2633472" cy="1463040"/>
          </a:xfrm>
          <a:prstGeom prst="rect">
            <a:avLst/>
          </a:prstGeom>
          <a:solidFill>
            <a:srgbClr val="0A162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382512" y="3639312"/>
            <a:ext cx="2359152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count?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taxis in a cell = more vehicles = higher congestion. This density proxy is standard in taxi-trajectory research and correlates strongly with actual traffic volume.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FFD60A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dirty="0">
              <a:highlight>
                <a:srgbClr val="000000"/>
              </a:highlight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Approach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852928"/>
            <a:ext cx="7498080" cy="731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1298448"/>
            <a:ext cx="45720" cy="15727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234440"/>
            <a:ext cx="2029968" cy="86868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0" y="1261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92224" y="2743200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3127248"/>
            <a:ext cx="2029968" cy="16916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318211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rows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50×50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  </a:t>
            </a: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0.9293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63040" y="404164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pipeline logic cheaply before committing compute time.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1298448"/>
            <a:ext cx="45720" cy="15727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234440"/>
            <a:ext cx="2029968" cy="868680"/>
          </a:xfrm>
          <a:prstGeom prst="rect">
            <a:avLst/>
          </a:prstGeom>
          <a:solidFill>
            <a:srgbClr val="0D2040"/>
          </a:solidFill>
          <a:ln w="12700">
            <a:solidFill>
              <a:srgbClr val="FF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0" y="1261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18304" y="2743200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0" y="3127248"/>
            <a:ext cx="2029968" cy="1691640"/>
          </a:xfrm>
          <a:prstGeom prst="rect">
            <a:avLst/>
          </a:prstGeom>
          <a:solidFill>
            <a:srgbClr val="0D2040"/>
          </a:solidFill>
          <a:ln w="12700">
            <a:solidFill>
              <a:srgbClr val="FF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89120" y="318211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 rows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50×50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 0.9456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89120" y="404164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processing (100K rows/batch) across 18 chunks. 83M GPS sightings processed.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35824" y="1298448"/>
            <a:ext cx="45720" cy="1572768"/>
          </a:xfrm>
          <a:prstGeom prst="rect">
            <a:avLst/>
          </a:prstGeom>
          <a:solidFill>
            <a:srgbClr val="00E5C3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246164"/>
            <a:ext cx="2029968" cy="868680"/>
          </a:xfrm>
          <a:prstGeom prst="rect">
            <a:avLst/>
          </a:prstGeom>
          <a:solidFill>
            <a:srgbClr val="0D2040"/>
          </a:solidFill>
          <a:ln w="12700">
            <a:solidFill>
              <a:srgbClr val="00E5C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0" y="1261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44384" y="2743200"/>
            <a:ext cx="256032" cy="256032"/>
          </a:xfrm>
          <a:prstGeom prst="ellipse">
            <a:avLst/>
          </a:prstGeom>
          <a:solidFill>
            <a:srgbClr val="00E5C3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0" y="3127248"/>
            <a:ext cx="2029968" cy="16916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E5C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0" y="318211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 rows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100×100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  </a:t>
            </a:r>
            <a:r>
              <a:rPr lang="en-US" sz="1150" dirty="0">
                <a:solidFill>
                  <a:srgbClr val="00E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0.9849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0" y="404164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finer grid. Final df_model_data_full.csv with 87,128 rows. Production model.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14800" cy="3794760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41148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128016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105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01952" y="1810512"/>
            <a:ext cx="50292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901952" y="1810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7168" y="1865376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decision trees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128016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01952" y="2377440"/>
            <a:ext cx="50292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1901952" y="2377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87168" y="243230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 for each tree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944368"/>
            <a:ext cx="128016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44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01952" y="2944368"/>
            <a:ext cx="50292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1901952" y="2944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87168" y="299923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 per tree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511296"/>
            <a:ext cx="128016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511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n_jobs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01952" y="3511296"/>
            <a:ext cx="50292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1901952" y="35112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87168" y="35661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CPU cores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078224"/>
            <a:ext cx="128016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0782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test_size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01952" y="4078224"/>
            <a:ext cx="50292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1901952" y="40782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87168" y="41330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617720"/>
            <a:ext cx="3749040" cy="274320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4645152"/>
            <a:ext cx="3602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XGBoost? Fast, handles tabular data well, no scaling needed, native n_jobs parallelism.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1170432"/>
            <a:ext cx="4114800" cy="3794760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170432"/>
            <a:ext cx="411480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 / Output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9377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(X)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2121408"/>
            <a:ext cx="841248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212140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33872" y="2121408"/>
            <a:ext cx="502920" cy="329184"/>
          </a:xfrm>
          <a:prstGeom prst="rect">
            <a:avLst/>
          </a:prstGeom>
          <a:solidFill>
            <a:srgbClr val="D1E8FF"/>
          </a:solidFill>
          <a:ln/>
        </p:spPr>
      </p:sp>
      <p:sp>
        <p:nvSpPr>
          <p:cNvPr id="42" name="Text 40"/>
          <p:cNvSpPr/>
          <p:nvPr/>
        </p:nvSpPr>
        <p:spPr>
          <a:xfrm>
            <a:off x="5833872" y="21214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0–23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21671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37760" y="2596896"/>
            <a:ext cx="841248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259689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33872" y="2596896"/>
            <a:ext cx="502920" cy="329184"/>
          </a:xfrm>
          <a:prstGeom prst="rect">
            <a:avLst/>
          </a:prstGeom>
          <a:solidFill>
            <a:srgbClr val="D1E8FF"/>
          </a:solidFill>
          <a:ln/>
        </p:spPr>
      </p:sp>
      <p:sp>
        <p:nvSpPr>
          <p:cNvPr id="47" name="Text 45"/>
          <p:cNvSpPr/>
          <p:nvPr/>
        </p:nvSpPr>
        <p:spPr>
          <a:xfrm>
            <a:off x="5833872" y="259689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0" y="26426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37760" y="3072384"/>
            <a:ext cx="841248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307238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lon_bin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33872" y="3072384"/>
            <a:ext cx="502920" cy="329184"/>
          </a:xfrm>
          <a:prstGeom prst="rect">
            <a:avLst/>
          </a:prstGeom>
          <a:solidFill>
            <a:srgbClr val="D1E8FF"/>
          </a:solidFill>
          <a:ln/>
        </p:spPr>
      </p:sp>
      <p:sp>
        <p:nvSpPr>
          <p:cNvPr id="52" name="Text 50"/>
          <p:cNvSpPr/>
          <p:nvPr/>
        </p:nvSpPr>
        <p:spPr>
          <a:xfrm>
            <a:off x="5833872" y="30723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0–99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31181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grid column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937760" y="3547872"/>
            <a:ext cx="841248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5" name="Text 53"/>
          <p:cNvSpPr/>
          <p:nvPr/>
        </p:nvSpPr>
        <p:spPr>
          <a:xfrm>
            <a:off x="4937760" y="354787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lat_bin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833872" y="3547872"/>
            <a:ext cx="502920" cy="329184"/>
          </a:xfrm>
          <a:prstGeom prst="rect">
            <a:avLst/>
          </a:prstGeom>
          <a:solidFill>
            <a:srgbClr val="D1E8FF"/>
          </a:solidFill>
          <a:ln/>
        </p:spPr>
      </p:sp>
      <p:sp>
        <p:nvSpPr>
          <p:cNvPr id="57" name="Text 55"/>
          <p:cNvSpPr/>
          <p:nvPr/>
        </p:nvSpPr>
        <p:spPr>
          <a:xfrm>
            <a:off x="5833872" y="354787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0–99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00800" y="35935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grid row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937760" y="4187952"/>
            <a:ext cx="35661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0" name="Text 58"/>
          <p:cNvSpPr/>
          <p:nvPr/>
        </p:nvSpPr>
        <p:spPr>
          <a:xfrm>
            <a:off x="4937760" y="4297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TARGET (y)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937760" y="4626864"/>
            <a:ext cx="356616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2" name="Text 60"/>
          <p:cNvSpPr/>
          <p:nvPr/>
        </p:nvSpPr>
        <p:spPr>
          <a:xfrm>
            <a:off x="5029200" y="46268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congestion   →   predicted taxi density score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4114800" cy="3520440"/>
          </a:xfrm>
          <a:prstGeom prst="rect">
            <a:avLst/>
          </a:prstGeom>
          <a:solidFill>
            <a:srgbClr val="0D20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48132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0.9849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475488" y="2606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on full dataset (87,128 rows)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090672"/>
            <a:ext cx="35661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3090672"/>
            <a:ext cx="3511296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4015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98.49% variance explained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 →  PRODUCTION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4041648"/>
            <a:ext cx="1572768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40416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0.9293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10K rows / 50×50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87168" y="4041648"/>
            <a:ext cx="1572768" cy="4754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2487168" y="40416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</a:rPr>
              <a:t>0.9849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</a:rPr>
              <a:t>1.7M rows / 100×100</a:t>
            </a:r>
            <a:endParaRPr lang="en-US" sz="10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736592" y="1298448"/>
          <a:ext cx="4114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4736592" y="3767328"/>
            <a:ext cx="54864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5"/>
          <p:cNvSpPr/>
          <p:nvPr/>
        </p:nvSpPr>
        <p:spPr>
          <a:xfrm>
            <a:off x="4882896" y="3767328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dominates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82896" y="3968496"/>
            <a:ext cx="3968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lat_bin + lon_bin account for 72% of model decisions — where matters most.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36592" y="4206240"/>
            <a:ext cx="54864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8"/>
          <p:cNvSpPr/>
          <p:nvPr/>
        </p:nvSpPr>
        <p:spPr>
          <a:xfrm>
            <a:off x="4882896" y="4206240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is significant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82896" y="4407408"/>
            <a:ext cx="3968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importance — rush hours (8am, 6pm) create strong congestion signals.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36592" y="4645152"/>
            <a:ext cx="54864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4882896" y="4645152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is least critical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82896" y="4846320"/>
            <a:ext cx="3968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— weekday vs weekend matters, but less than location and time of day.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(app.py)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207008"/>
            <a:ext cx="1572768" cy="1417320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207008"/>
            <a:ext cx="1572768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335024"/>
            <a:ext cx="438912" cy="43891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18470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214884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hour + 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1911096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207008"/>
            <a:ext cx="1572768" cy="1417320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207008"/>
            <a:ext cx="1572768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1335024"/>
            <a:ext cx="438912" cy="43891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48256" y="18470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Lookup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48256" y="214884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lon_bins.pkl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lat_bins.pkl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1911096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1207008"/>
            <a:ext cx="1572768" cy="1417320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30752" y="1207008"/>
            <a:ext cx="1572768" cy="64008"/>
          </a:xfrm>
          <a:prstGeom prst="rect">
            <a:avLst/>
          </a:prstGeom>
          <a:solidFill>
            <a:srgbClr val="00E5C3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0" y="1335024"/>
            <a:ext cx="438912" cy="438912"/>
          </a:xfrm>
          <a:prstGeom prst="ellipse">
            <a:avLst/>
          </a:prstGeom>
          <a:solidFill>
            <a:srgbClr val="00E5C3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85616" y="18470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Assignment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85616" y="214884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np.digitize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lon_bin, lat_bin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1911096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8112" y="1207008"/>
            <a:ext cx="1572768" cy="1417320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68112" y="1207008"/>
            <a:ext cx="1572768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0" y="1335024"/>
            <a:ext cx="438912" cy="43891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22976" y="18470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Predict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22976" y="214884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xgb_grid_model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_prod.pkl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1911096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5472" y="1207008"/>
            <a:ext cx="1572768" cy="1417320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05472" y="1207008"/>
            <a:ext cx="1572768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Shape 33"/>
          <p:cNvSpPr/>
          <p:nvPr/>
        </p:nvSpPr>
        <p:spPr>
          <a:xfrm>
            <a:off x="7772400" y="1335024"/>
            <a:ext cx="438912" cy="43891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0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60336" y="18470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Output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0336" y="214884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density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user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" y="2834640"/>
            <a:ext cx="4114800" cy="2103120"/>
          </a:xfrm>
          <a:prstGeom prst="rect">
            <a:avLst/>
          </a:prstGeom>
          <a:solidFill>
            <a:srgbClr val="0A162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30352" y="2926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325526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" y="32552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train.csv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24912" y="32552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Kaggle dataset (input)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352958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" y="35295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main.ipynb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24912" y="35295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preprocessing + training code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380390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5800" y="3803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df_model_data_full.csv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24912" y="38039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model-ready dataset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" y="407822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5800" y="40782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xgb_grid_model_prod.pkl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724912" y="407822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production model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" y="435254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5800" y="43525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lon_bins.pkl / lat_bins.pkl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724912" y="4352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bin boundaries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02920" y="462686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5800" y="46268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24912" y="46268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Flask/web prediction API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81728" y="2834640"/>
            <a:ext cx="4206240" cy="2103120"/>
          </a:xfrm>
          <a:prstGeom prst="rect">
            <a:avLst/>
          </a:prstGeom>
          <a:solidFill>
            <a:srgbClr val="F0F7FF"/>
          </a:solidFill>
          <a:ln w="12700">
            <a:solidFill>
              <a:srgbClr val="D1E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81728" y="2834640"/>
            <a:ext cx="420624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1" name="Text 59"/>
          <p:cNvSpPr/>
          <p:nvPr/>
        </p:nvSpPr>
        <p:spPr>
          <a:xfrm>
            <a:off x="484632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4828032" y="33649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CSV processing avoids RAM overflow on 1.7M rows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828032" y="37490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bins saved as .pkl ensure inference uses exact training boundaries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828032" y="41330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(not classification) allows continuous congestion scores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828032" y="451713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n_jobs=-1 uses all CPU cores during training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12244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12244">
              <a:alpha val="60000"/>
            </a:srgbClr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What We Learned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4160520" cy="1444752"/>
          </a:xfrm>
          <a:prstGeom prst="rect">
            <a:avLst/>
          </a:prstGeom>
          <a:solidFill>
            <a:srgbClr val="0D204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81328"/>
            <a:ext cx="64008" cy="14447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5910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975104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1.7M messy GPS trips into 87K clean, structured rows using parsing, explosion, filtering, and spatial binning.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90872" y="1481328"/>
            <a:ext cx="4160520" cy="1444752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481328"/>
            <a:ext cx="64008" cy="14447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73752" y="15910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975104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100×100 city grid and a count-based congestion metric — entirely derived from raw GPS data, no external labels.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3108960"/>
            <a:ext cx="4160520" cy="1444752"/>
          </a:xfrm>
          <a:prstGeom prst="rect">
            <a:avLst/>
          </a:prstGeom>
          <a:solidFill>
            <a:srgbClr val="0D2040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3108960"/>
            <a:ext cx="64008" cy="14447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218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3602736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 achieved R²=0.9849 on the full dataset. Location features (lat/lon bins) dominate predictions at 72%.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90872" y="3108960"/>
            <a:ext cx="4160520" cy="1444752"/>
          </a:xfrm>
          <a:prstGeom prst="rect">
            <a:avLst/>
          </a:prstGeom>
          <a:solidFill>
            <a:srgbClr val="0D2040"/>
          </a:solidFill>
          <a:ln w="12700">
            <a:solidFill>
              <a:srgbClr val="FF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90872" y="3108960"/>
            <a:ext cx="64008" cy="14447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873752" y="3218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3602736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bin files packaged into a live app. Any user can input a Porto location and time and get a congestion prediction.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71020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7548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1157</Words>
  <Application>Microsoft Office PowerPoint</Application>
  <PresentationFormat>On-screen Show (16:9)</PresentationFormat>
  <Paragraphs>236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Porto Traffic Congestion Prediction</dc:title>
  <dc:subject>PptxGenJS Presentation</dc:subject>
  <dc:creator>Student</dc:creator>
  <cp:lastModifiedBy>Gagan Diwakar</cp:lastModifiedBy>
  <cp:revision>4</cp:revision>
  <dcterms:created xsi:type="dcterms:W3CDTF">2026-04-04T06:41:37Z</dcterms:created>
  <dcterms:modified xsi:type="dcterms:W3CDTF">2026-04-06T12:20:33Z</dcterms:modified>
</cp:coreProperties>
</file>