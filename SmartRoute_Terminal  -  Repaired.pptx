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128" d="100"/>
          <a:sy n="128" d="100"/>
        </p:scale>
        <p:origin x="91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01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93776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03504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13232"/>
            <a:ext cx="8686800" cy="0"/>
          </a:xfrm>
          <a:prstGeom prst="line">
            <a:avLst/>
          </a:prstGeom>
          <a:noFill/>
          <a:ln w="6350">
            <a:solidFill>
              <a:srgbClr val="1E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59436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0058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SmartRoute Terminal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Predictive Traffic Speed Intelligence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Urban Mobility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0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0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Trajectories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0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Portugal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0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3749040"/>
            <a:ext cx="5833633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Transportation Systems  ·  Semester 6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By : Gagan Diwakar (Team Lead )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Kalp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Nilesh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Ajeet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Saumyarshi</a:t>
            </a:r>
            <a:r>
              <a:rPr lang="en-US" sz="1200" dirty="0">
                <a:solidFill>
                  <a:schemeClr val="accent4"/>
                </a:solidFill>
                <a:latin typeface="Britannic Bold" panose="020B0903060703020204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solidFill>
                <a:schemeClr val="accent4"/>
              </a:solidFill>
              <a:latin typeface="Britannic Bold" panose="020B0903060703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457200"/>
            <a:ext cx="246888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64008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7416" y="64008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64008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64008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859536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7416" y="859536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76872" y="859536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859536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107899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57416" y="107899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76872" y="1078992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96328" y="107899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1298448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57416" y="129844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76872" y="129844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96328" y="1298448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1517904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57416" y="1517904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76872" y="1517904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1517904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173736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57416" y="173736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76872" y="1737360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6328" y="1737360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1956816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57416" y="1956816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76872" y="1956816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96328" y="1956816"/>
            <a:ext cx="182880" cy="182880"/>
          </a:xfrm>
          <a:prstGeom prst="rect">
            <a:avLst/>
          </a:prstGeom>
          <a:solidFill>
            <a:srgbClr val="00E5FF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217627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57416" y="217627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76872" y="217627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96328" y="2176272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37960" y="239572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57416" y="239572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76872" y="239572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96328" y="2395728"/>
            <a:ext cx="182880" cy="182880"/>
          </a:xfrm>
          <a:prstGeom prst="rect">
            <a:avLst/>
          </a:prstGeom>
          <a:solidFill>
            <a:srgbClr val="1C3A4A"/>
          </a:solidFill>
          <a:ln w="6350">
            <a:solidFill>
              <a:srgbClr val="0A2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 Grid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Porto, Portugal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A2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Taxi Trajectories  ·  80M GPS Points  ·  R² = 0.85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in Modern Navigation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8503920" cy="640080"/>
          </a:xfrm>
          <a:prstGeom prst="rect">
            <a:avLst/>
          </a:prstGeom>
          <a:solidFill>
            <a:srgbClr val="1A0010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685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"Navigation apps show you NOW.  We predict the FUTURE."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697480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269748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Only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9768" y="2770632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&amp; Waze show current traffic — useless for planning departure times tomorrow.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508760"/>
            <a:ext cx="2697480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508760"/>
            <a:ext cx="26974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9164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Future ETA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10128" y="2770632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leave at 7 AM Monday, how long will my trip take?" — no navigation app can answer this.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1508760"/>
            <a:ext cx="2697480" cy="23774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508760"/>
            <a:ext cx="26974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9164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331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Congestion Data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190488" y="2770632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planners have no quantitative heatmaps of when &amp; where congestion forms each day.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040" y="41605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million historical taxi GPS records provide the historical knowledge base to solve this gap.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SmartRoute Terminal — What We Built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8463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1005840" cy="621792"/>
          </a:xfrm>
          <a:prstGeom prst="rect">
            <a:avLst/>
          </a:prstGeom>
          <a:solidFill>
            <a:srgbClr val="00293A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7132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real taxi GPS trajectories — Kaggle Porto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48463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63040"/>
            <a:ext cx="1005840" cy="621792"/>
          </a:xfrm>
          <a:prstGeom prst="rect">
            <a:avLst/>
          </a:prstGeom>
          <a:solidFill>
            <a:srgbClr val="00293A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630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1463040"/>
            <a:ext cx="3611880" cy="6217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divided into 238 cells of 1km × 1km each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8463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12848"/>
            <a:ext cx="1005840" cy="621792"/>
          </a:xfrm>
          <a:prstGeom prst="rect">
            <a:avLst/>
          </a:prstGeom>
          <a:solidFill>
            <a:srgbClr val="00293A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1284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2212848"/>
            <a:ext cx="3611880" cy="6217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traffic speed (km/h) per cell, per hour, per weekday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62656"/>
            <a:ext cx="48463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62656"/>
            <a:ext cx="1005840" cy="621792"/>
          </a:xfrm>
          <a:prstGeom prst="rect">
            <a:avLst/>
          </a:prstGeom>
          <a:solidFill>
            <a:srgbClr val="00293A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6265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2962656"/>
            <a:ext cx="3611880" cy="6217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24-hour travel time predictions via web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12464"/>
            <a:ext cx="48463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12464"/>
            <a:ext cx="1005840" cy="621792"/>
          </a:xfrm>
          <a:prstGeom prst="rect">
            <a:avLst/>
          </a:prstGeom>
          <a:solidFill>
            <a:srgbClr val="00293A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1246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3712464"/>
            <a:ext cx="3611880" cy="6217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traffic API needed — fully self-contained 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713232"/>
            <a:ext cx="3337560" cy="1325880"/>
          </a:xfrm>
          <a:prstGeom prst="rect">
            <a:avLst/>
          </a:prstGeom>
          <a:solidFill>
            <a:srgbClr val="001524"/>
          </a:solidFill>
          <a:ln w="19050">
            <a:solidFill>
              <a:srgbClr val="00B4D8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713232"/>
            <a:ext cx="3337560" cy="132588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transformed 1.7M raw GPS trips into an AI brain that predicts traffic speed for any route in Porto — any hour, any day."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2240280"/>
            <a:ext cx="15544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2258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1.7M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86400" y="2715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Trips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2240280"/>
            <a:ext cx="15544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78040" y="2258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80M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78040" y="2715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Points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3200400"/>
            <a:ext cx="15544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486400" y="36758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3200400"/>
            <a:ext cx="155448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78040" y="3218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24h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178040" y="36758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Foundation — Porto Taxi Trajectories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85800"/>
          <a:ext cx="402336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~1.71 Million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Porto, Portugal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Ping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15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Points Processed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Million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operational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685800"/>
            <a:ext cx="4251960" cy="1234440"/>
          </a:xfrm>
          <a:prstGeom prst="rect">
            <a:avLst/>
          </a:prstGeom>
          <a:solidFill>
            <a:srgbClr val="001A10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0" y="685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Dataset is Special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0" y="1078992"/>
            <a:ext cx="4251960" cy="7772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15-second GPS interval enables direct speed calculation from pure distance physics — no speed was recorded in the raw data, we derived it all.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2029968"/>
            <a:ext cx="4251960" cy="685800"/>
          </a:xfrm>
          <a:prstGeom prst="rect">
            <a:avLst/>
          </a:prstGeom>
          <a:solidFill>
            <a:srgbClr val="001524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20299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(km/h)  =  Distance_km  ÷  (15 sec / 3600)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0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4023360" cy="1005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Unix timestamp (trip start time)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 of GPS [lon, lat] points every 15s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0" y="2880360"/>
            <a:ext cx="4251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2926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 Porto Taxi Dataset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3310128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cited real-world GPS trajectory datasets in transportation research.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trips · Granular 15-second pings · Full calendar year coverage.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System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69848" y="822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CSV 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1243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1.71M Taxi Trips · train.csv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69848" y="21214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1km Grid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9848" y="25420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geometry · 204 cells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310128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10128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0128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69848" y="3419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Speeds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 GPS points · v = d ÷ 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713232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713232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713232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0408" y="822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50408" y="1243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31,044 records · avg/cell/hour/day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011680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011680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011680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50408" y="21214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XGBoost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50408" y="25420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accelerated · 300 trees · R²=0.85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310128"/>
            <a:ext cx="4114800" cy="1115568"/>
          </a:xfrm>
          <a:prstGeom prst="rect">
            <a:avLst/>
          </a:prstGeom>
          <a:solidFill>
            <a:srgbClr val="161B22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310128"/>
            <a:ext cx="658368" cy="1115568"/>
          </a:xfrm>
          <a:prstGeom prst="rect">
            <a:avLst/>
          </a:prstGeom>
          <a:solidFill>
            <a:srgbClr val="00111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10128"/>
            <a:ext cx="6583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50408" y="34198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Web App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50408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draws route → 24-hour table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0560" y="822960"/>
            <a:ext cx="0" cy="338328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29768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uses real physics and geography — not abstract numbers.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Dividing Porto into a 1km × 1km Physical Grid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3749040" cy="1920240"/>
          </a:xfrm>
          <a:prstGeom prst="rect">
            <a:avLst/>
          </a:prstGeom>
          <a:solidFill>
            <a:srgbClr val="1A0505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85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Naive Grid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56616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lat/lon range equally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longitude ≠ 1° latitude in real distance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Porto: 1° lon ≈ 83 km vs 1° lat ≈ 111 km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cells of wildly different physical sizes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685800"/>
            <a:ext cx="4480560" cy="1920240"/>
          </a:xfrm>
          <a:prstGeom prst="rect">
            <a:avLst/>
          </a:prstGeom>
          <a:solidFill>
            <a:srgbClr val="001A10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6858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Our Haversine Approach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1115568"/>
            <a:ext cx="429768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computes true curved-earth distance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 = Haversine(lon_min→lon_max) = 11.5 km → 12 cols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Haversine(lat_min→lat_max) = 16.7 km → 17 rows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12 × 17 = 204 cells, each exactly 1 km²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85039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1km Grid (12 cols × 17 rows = 204 cells)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28216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18004" y="320040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7580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87368" y="3200400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7156" y="320040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320040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6732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20040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6308" y="3200400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01568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8428" y="340156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28216" y="340156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8004" y="3401568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07792" y="3401568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97580" y="340156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87368" y="340156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7156" y="3401568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66944" y="3401568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6732" y="340156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340156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36308" y="340156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602736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8428" y="3602736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28216" y="3602736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18004" y="3602736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07792" y="3602736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97580" y="3602736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87368" y="3602736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77156" y="3602736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66944" y="3602736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6732" y="3602736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3602736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36308" y="3602736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3803904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38428" y="3803904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28216" y="3803904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18004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07792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97580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87368" y="3803904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77156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66944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6732" y="3803904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46520" y="3803904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36308" y="3803904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005072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38428" y="4005072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28216" y="4005072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18004" y="4005072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07792" y="4005072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97580" y="4005072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87368" y="4005072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77156" y="4005072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66944" y="4005072"/>
            <a:ext cx="566928" cy="182880"/>
          </a:xfrm>
          <a:prstGeom prst="rect">
            <a:avLst/>
          </a:prstGeom>
          <a:solidFill>
            <a:srgbClr val="00CC66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6732" y="4005072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46520" y="4005072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036308" y="4005072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8640" y="4206240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38428" y="420624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28216" y="420624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18004" y="4206240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07792" y="4206240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97580" y="420624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087368" y="420624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77156" y="4206240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66944" y="4206240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56732" y="4206240"/>
            <a:ext cx="566928" cy="182880"/>
          </a:xfrm>
          <a:prstGeom prst="rect">
            <a:avLst/>
          </a:prstGeom>
          <a:solidFill>
            <a:srgbClr val="66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46520" y="4206240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36308" y="4206240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4407408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38428" y="440740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28216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18004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07792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97580" y="440740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087368" y="440740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77156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66944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56732" y="4407408"/>
            <a:ext cx="566928" cy="182880"/>
          </a:xfrm>
          <a:prstGeom prst="rect">
            <a:avLst/>
          </a:prstGeom>
          <a:solidFill>
            <a:srgbClr val="CCCC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446520" y="4407408"/>
            <a:ext cx="566928" cy="182880"/>
          </a:xfrm>
          <a:prstGeom prst="rect">
            <a:avLst/>
          </a:prstGeom>
          <a:solidFill>
            <a:srgbClr val="FF88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36308" y="4407408"/>
            <a:ext cx="566928" cy="182880"/>
          </a:xfrm>
          <a:prstGeom prst="rect">
            <a:avLst/>
          </a:prstGeom>
          <a:solidFill>
            <a:srgbClr val="FF2200"/>
          </a:solidFill>
          <a:ln w="6350">
            <a:solidFill>
              <a:srgbClr val="0D111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57200" y="4773168"/>
            <a:ext cx="164592" cy="164592"/>
          </a:xfrm>
          <a:prstGeom prst="rect">
            <a:avLst/>
          </a:prstGeom>
          <a:solidFill>
            <a:srgbClr val="FF2200"/>
          </a:solidFill>
          <a:ln w="12700">
            <a:solidFill>
              <a:srgbClr val="FF22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7512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&lt;18 slow km/h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121408" y="4773168"/>
            <a:ext cx="164592" cy="164592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31720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18-28 km/h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785616" y="4773168"/>
            <a:ext cx="164592" cy="164592"/>
          </a:xfrm>
          <a:prstGeom prst="rect">
            <a:avLst/>
          </a:prstGeom>
          <a:solidFill>
            <a:srgbClr val="CCCC00"/>
          </a:solidFill>
          <a:ln w="12700">
            <a:solidFill>
              <a:srgbClr val="CCCC0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95928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28-38 km/h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449824" y="4773168"/>
            <a:ext cx="164592" cy="164592"/>
          </a:xfrm>
          <a:prstGeom prst="rect">
            <a:avLst/>
          </a:prstGeom>
          <a:solidFill>
            <a:srgbClr val="66CC00"/>
          </a:solidFill>
          <a:ln w="12700">
            <a:solidFill>
              <a:srgbClr val="66CC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60136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38-50 km/h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114032" y="4773168"/>
            <a:ext cx="164592" cy="164592"/>
          </a:xfrm>
          <a:prstGeom prst="rect">
            <a:avLst/>
          </a:prstGeom>
          <a:solidFill>
            <a:srgbClr val="00CC66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324344" y="4754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fast km/h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Computing Traffic Speed from GPS Points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25196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858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Haversine Formula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06908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sin²(Δlat/2) + cos(lat₁)·cos(lat₂)·sin²(Δlon/2)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2 × arctan2(√a, √(1−a))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= R × c    (R = 6371 km)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2 places: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Construction (once) — measure Porto's size in km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Extraction (80M times) — distance between GPS pings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685800"/>
            <a:ext cx="402336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685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Per-Segment Speed Calculation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078992"/>
            <a:ext cx="38404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 Points: [A → B → C → D ...] every 15 sec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A→B: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 = Haversine(A, B) → 0.08 km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 = 0.08 ÷ 0.004167 = 19.2 km/h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map to 1km cell of Point 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 B→C: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 = 0.15 km → speed = 36.0 km/h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127248"/>
            <a:ext cx="8503920" cy="822960"/>
          </a:xfrm>
          <a:prstGeom prst="rect">
            <a:avLst/>
          </a:prstGeom>
          <a:solidFill>
            <a:srgbClr val="001A00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272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Filter Applied: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12724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keep speeds where:  0 &lt; speed ≤ 120 km/h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12724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parked / GPS lost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&gt;120 = hardware noise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1148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valid speed stored with: lon_bin · lat_bin · hour · day_of_week → 31,044 aggregated training records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the XGBoost Prediction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286000" cy="3108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685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2103120" cy="512064"/>
          </a:xfrm>
          <a:prstGeom prst="rect">
            <a:avLst/>
          </a:prstGeom>
          <a:solidFill>
            <a:srgbClr val="001E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0–23 (time of day)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2103120" cy="512064"/>
          </a:xfrm>
          <a:prstGeom prst="rect">
            <a:avLst/>
          </a:prstGeom>
          <a:solidFill>
            <a:srgbClr val="001E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0=Mon…6=Sun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2103120" cy="512064"/>
          </a:xfrm>
          <a:prstGeom prst="rect">
            <a:avLst/>
          </a:prstGeom>
          <a:solidFill>
            <a:srgbClr val="001E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59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lon_bin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615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column (0–11)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80944"/>
            <a:ext cx="2103120" cy="512064"/>
          </a:xfrm>
          <a:prstGeom prst="rect">
            <a:avLst/>
          </a:prstGeom>
          <a:solidFill>
            <a:srgbClr val="001E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80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lat_bin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row (0–16)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240280"/>
            <a:ext cx="6400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685800"/>
            <a:ext cx="2560320" cy="3108960"/>
          </a:xfrm>
          <a:prstGeom prst="rect">
            <a:avLst/>
          </a:prstGeom>
          <a:solidFill>
            <a:srgbClr val="1A1200"/>
          </a:solidFill>
          <a:ln w="25400">
            <a:solidFill>
              <a:srgbClr val="FFD166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777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Regressor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74720" y="1508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508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18470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847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218541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21854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2523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min_child_weight: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5237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0" y="28620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8620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(GPU)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240280"/>
            <a:ext cx="64008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675120" y="685800"/>
            <a:ext cx="2148840" cy="3108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75120" y="6858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10789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Speed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(km/h)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1664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Cell+Hour+Day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084832"/>
            <a:ext cx="1920240" cy="457200"/>
          </a:xfrm>
          <a:prstGeom prst="rect">
            <a:avLst/>
          </a:prstGeom>
          <a:solidFill>
            <a:srgbClr val="001A1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084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0.82–0.85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2633472"/>
            <a:ext cx="1920240" cy="457200"/>
          </a:xfrm>
          <a:prstGeom prst="rect">
            <a:avLst/>
          </a:prstGeom>
          <a:solidFill>
            <a:srgbClr val="001A1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±6 km/h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766560" y="3182112"/>
            <a:ext cx="1920240" cy="457200"/>
          </a:xfrm>
          <a:prstGeom prst="rect">
            <a:avLst/>
          </a:prstGeom>
          <a:solidFill>
            <a:srgbClr val="001A1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3182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~</a:t>
            </a:r>
            <a:r>
              <a:rPr lang="en-US" sz="1100" b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 </a:t>
            </a: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950208"/>
            <a:ext cx="8503920" cy="749808"/>
          </a:xfrm>
          <a:prstGeom prst="rect">
            <a:avLst/>
          </a:prstGeom>
          <a:solidFill>
            <a:srgbClr val="001524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395020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Anti-Overfitting: 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828800" y="395020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min_child_weight=20 (min 20 real events per branch)  ·  subsample=0.8 (80% random sample per tree)  ·  early_stopping_rounds=15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SmartRoute Dashboard — Flask Web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572000" cy="4160520"/>
          </a:xfrm>
          <a:prstGeom prst="rect">
            <a:avLst/>
          </a:prstGeom>
          <a:solidFill>
            <a:srgbClr val="0A0F1A"/>
          </a:solidFill>
          <a:ln w="19050">
            <a:solidFill>
              <a:srgbClr val="00E5FF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4572000" cy="320040"/>
          </a:xfrm>
          <a:prstGeom prst="rect">
            <a:avLst/>
          </a:prstGeom>
          <a:solidFill>
            <a:srgbClr val="00111F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SmartRoute Terminal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777240"/>
            <a:ext cx="109728" cy="109728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77724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051560"/>
            <a:ext cx="4443984" cy="1828800"/>
          </a:xfrm>
          <a:prstGeom prst="rect">
            <a:avLst/>
          </a:prstGeom>
          <a:solidFill>
            <a:srgbClr val="0D1E2E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51560"/>
            <a:ext cx="4443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Interactive Map — Porto City 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9616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5184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2968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88536" y="1051560"/>
            <a:ext cx="0" cy="182880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1051560"/>
            <a:ext cx="4443984" cy="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1417320"/>
            <a:ext cx="4443984" cy="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1783080"/>
            <a:ext cx="4443984" cy="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148840"/>
            <a:ext cx="4443984" cy="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14600"/>
            <a:ext cx="4443984" cy="0"/>
          </a:xfrm>
          <a:prstGeom prst="line">
            <a:avLst/>
          </a:prstGeom>
          <a:noFill/>
          <a:ln w="6350">
            <a:solidFill>
              <a:srgbClr val="0D2E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377440"/>
            <a:ext cx="292608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2304288"/>
            <a:ext cx="146304" cy="14630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22192" y="1572768"/>
            <a:ext cx="146304" cy="14630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926080"/>
            <a:ext cx="4443984" cy="292608"/>
          </a:xfrm>
          <a:prstGeom prst="rect">
            <a:avLst/>
          </a:prstGeom>
          <a:solidFill>
            <a:srgbClr val="001A2B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Day: Monday  ▼                     [ EXECUTE PREDICTION ]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3273552"/>
          <a:ext cx="4443984" cy="14630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(min)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km/h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km/h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12:00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km/h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km/h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5074920" y="713232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74920" y="1700784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74920" y="2688336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74920" y="3675888"/>
            <a:ext cx="374904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074920" y="4663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Flask-Caching memoize(timeout=3600) — repeated queries for same route+hour return instantly.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&amp;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196596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196596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82–85% variance explained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713232"/>
            <a:ext cx="196596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713232"/>
            <a:ext cx="19659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±6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km/h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1673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13232"/>
            <a:ext cx="196596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713232"/>
            <a:ext cx="19659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772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673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713232"/>
            <a:ext cx="196596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713232"/>
            <a:ext cx="196596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8046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66560" y="1426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1673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40min on CPU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03120"/>
            <a:ext cx="8503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1214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Free-Flow Baseline: Scientific Validation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514600"/>
          <a:ext cx="8366760" cy="14249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(8.5 km route)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Free-Flow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÷ 50 ×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traffic — theoretical 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Prediction @ 8AM 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÷ 22 ×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 min  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hour — heavy congestion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Prediction @ 2AM 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÷ 47 ×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 min  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— near free-flow, model is 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320040" y="39319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Free-Flow and AI prediction IS the congestion the model learned — proof of real-world learning.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0040" y="440740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predicted hourly speeds (simulated):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47472" y="4742993"/>
            <a:ext cx="274320" cy="345643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6773" y="4718304"/>
            <a:ext cx="274320" cy="3703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6074" y="4701845"/>
            <a:ext cx="274320" cy="386791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95374" y="4775911"/>
            <a:ext cx="274320" cy="312725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744675" y="4825289"/>
            <a:ext cx="274320" cy="26334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93976" y="4858207"/>
            <a:ext cx="274320" cy="230429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43277" y="4907585"/>
            <a:ext cx="274320" cy="181051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92578" y="4932274"/>
            <a:ext cx="274320" cy="15636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141878" y="4891126"/>
            <a:ext cx="274320" cy="19751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91179" y="4841748"/>
            <a:ext cx="274320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40480" y="4800600"/>
            <a:ext cx="274320" cy="2880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89781" y="4775911"/>
            <a:ext cx="274320" cy="312725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39082" y="4792370"/>
            <a:ext cx="274320" cy="29626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88382" y="4817059"/>
            <a:ext cx="274320" cy="27157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37683" y="4841748"/>
            <a:ext cx="274320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86984" y="4858207"/>
            <a:ext cx="274320" cy="230429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36285" y="4874666"/>
            <a:ext cx="274320" cy="21397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85586" y="4849978"/>
            <a:ext cx="274320" cy="23865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634886" y="4825289"/>
            <a:ext cx="274320" cy="26334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984187" y="4800600"/>
            <a:ext cx="274320" cy="2880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333488" y="4759452"/>
            <a:ext cx="274320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82789" y="4726534"/>
            <a:ext cx="274320" cy="36210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32090" y="4710074"/>
            <a:ext cx="274320" cy="37856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381390" y="4726534"/>
            <a:ext cx="274320" cy="36210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 — Natural Evolution of the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11480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04672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804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804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GPS to individual road segments via OSRM + OpenStreetMap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Lane-level speed prediction — eliminates cross-road averaging artifacts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713232"/>
            <a:ext cx="411480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804672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8046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8046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Neural Networks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8046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1261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entire road network as a graph (nodes=roads, edges=intersections)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1719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learn how congestion propagates across adjacent roads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70632"/>
            <a:ext cx="411480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62072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Feature Fusion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03320" y="2862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3192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(rainfall → slower speeds)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7764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 (football matches → corridor spikes)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233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push R² from 0.85 → 0.92+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770632"/>
            <a:ext cx="4114800" cy="187452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2862072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2862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Streaming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0" y="2862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33192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for live GPS data ingestion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7764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XGBoost updates (online learning)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42336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traffic prediction, not just historical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4016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18688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8032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2704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0"/>
            <a:ext cx="0" cy="514350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6350">
            <a:solidFill>
              <a:srgbClr val="131A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64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Achieved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274320" y="1207008"/>
            <a:ext cx="42062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316736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126187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GPS data to a live web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1865376"/>
            <a:ext cx="42062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1975104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19202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applied to create a physically meaningful 1km × 1km geographic grid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2523744"/>
            <a:ext cx="42062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63347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" y="2578608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traffic speeds extracted from 80M GPS points across 1.7M trips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182112"/>
            <a:ext cx="42062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291840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" y="323697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XGBoost model achieving 82–85% R² accuracy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46320" y="1207008"/>
            <a:ext cx="3977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1316736"/>
            <a:ext cx="292608" cy="29260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1261872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delivering 24-hour travel time forecasts using pure physics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1865376"/>
            <a:ext cx="3977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1975104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192024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standalone system — no live traffic API required for AI predictions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46320" y="2523744"/>
            <a:ext cx="397764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937760" y="2633472"/>
            <a:ext cx="292608" cy="29260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21808" y="2578608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Anti-overfitting regularization with mathematically verified generalization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01A1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"Replacing live-traffic API dependency with self-contained AI — Porto, any route, any hour, any day."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1422</Words>
  <Application>Microsoft Office PowerPoint</Application>
  <PresentationFormat>On-screen Show (16:9)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Britannic Bold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SmartRoute Terminal</dc:title>
  <dc:subject>PptxGenJS Presentation</dc:subject>
  <dc:creator>PptxGenJS</dc:creator>
  <cp:lastModifiedBy>Gagan Diwakar</cp:lastModifiedBy>
  <cp:revision>3</cp:revision>
  <dcterms:created xsi:type="dcterms:W3CDTF">2026-04-16T15:06:18Z</dcterms:created>
  <dcterms:modified xsi:type="dcterms:W3CDTF">2026-04-17T10:37:47Z</dcterms:modified>
</cp:coreProperties>
</file>